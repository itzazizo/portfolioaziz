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iAEUcdmKcgN4GFFZUa4uJ5mYvp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2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8" name="Google Shape;28;p25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" name="Google Shape;29;p25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" name="Google Shape;30;p25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31" name="Google Shape;31;p25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32" name="Google Shape;32;p25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5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34" name="Google Shape;34;p25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35" name="Google Shape;35;p25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36" name="Google Shape;36;p25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5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25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subTitle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2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2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9"/>
          <p:cNvSpPr txBox="1"/>
          <p:nvPr>
            <p:ph idx="1" type="body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2" type="body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0"/>
          <p:cNvSpPr txBox="1"/>
          <p:nvPr>
            <p:ph idx="1" type="body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0" name="Google Shape;70;p30"/>
          <p:cNvSpPr txBox="1"/>
          <p:nvPr>
            <p:ph idx="2" type="body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3" type="body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72" name="Google Shape;72;p30"/>
          <p:cNvSpPr txBox="1"/>
          <p:nvPr>
            <p:ph idx="4" type="body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" type="body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2" type="body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4" name="Google Shape;84;p32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3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/>
          <p:nvPr>
            <p:ph idx="2" type="pic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33"/>
          <p:cNvSpPr txBox="1"/>
          <p:nvPr>
            <p:ph idx="1" type="body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33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3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légende">
  <p:cSld name="Titre et légend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4"/>
          <p:cNvSpPr txBox="1"/>
          <p:nvPr>
            <p:ph idx="1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3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tion avec légende">
  <p:cSld name="Citation avec légend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5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5"/>
          <p:cNvSpPr txBox="1"/>
          <p:nvPr>
            <p:ph idx="1" type="body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35"/>
          <p:cNvSpPr txBox="1"/>
          <p:nvPr>
            <p:ph idx="2" type="body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35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5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5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07" name="Google Shape;107;p35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8" name="Google Shape;108;p35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e nom">
  <p:cSld name="Carte nom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6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6"/>
          <p:cNvSpPr txBox="1"/>
          <p:nvPr>
            <p:ph idx="1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36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6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6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te nom citation">
  <p:cSld name="Carte nom cita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7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7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8" name="Google Shape;118;p37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37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7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7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2" name="Google Shape;122;p37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3" name="Google Shape;123;p37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rai ou faux">
  <p:cSld name="Vrai ou faux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8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b="0" sz="44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8"/>
          <p:cNvSpPr txBox="1"/>
          <p:nvPr>
            <p:ph idx="1" type="body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7" name="Google Shape;127;p38"/>
          <p:cNvSpPr txBox="1"/>
          <p:nvPr>
            <p:ph idx="2" type="body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38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8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8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39"/>
          <p:cNvSpPr txBox="1"/>
          <p:nvPr>
            <p:ph idx="1" type="body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39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9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9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0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40"/>
          <p:cNvSpPr txBox="1"/>
          <p:nvPr>
            <p:ph idx="1" type="body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40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0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0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4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24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" name="Google Shape;12;p24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cap="flat" cmpd="sng" w="9525">
              <a:solidFill>
                <a:srgbClr val="D8D8D8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" name="Google Shape;13;p24"/>
            <p:cNvSpPr/>
            <p:nvPr/>
          </p:nvSpPr>
          <p:spPr>
            <a:xfrm>
              <a:off x="9181476" y="-8467"/>
              <a:ext cx="3007349" cy="6866467"/>
            </a:xfrm>
            <a:custGeom>
              <a:rect b="b" l="l" r="r" t="t"/>
              <a:pathLst>
                <a:path extrusionOk="0" h="6866467" w="3007349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14" name="Google Shape;14;p24"/>
            <p:cNvSpPr/>
            <p:nvPr/>
          </p:nvSpPr>
          <p:spPr>
            <a:xfrm>
              <a:off x="9603442" y="-8467"/>
              <a:ext cx="2588558" cy="6866467"/>
            </a:xfrm>
            <a:custGeom>
              <a:rect b="b" l="l" r="r" t="t"/>
              <a:pathLst>
                <a:path extrusionOk="0" h="6866467" w="2573311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24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fmla="val 100000" name="adj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4"/>
            <p:cNvSpPr/>
            <p:nvPr/>
          </p:nvSpPr>
          <p:spPr>
            <a:xfrm>
              <a:off x="9334500" y="-8467"/>
              <a:ext cx="2854326" cy="6866467"/>
            </a:xfrm>
            <a:custGeom>
              <a:rect b="b" l="l" r="r" t="t"/>
              <a:pathLst>
                <a:path extrusionOk="0" h="6866467" w="2858013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7" name="Google Shape;17;p24"/>
            <p:cNvSpPr/>
            <p:nvPr/>
          </p:nvSpPr>
          <p:spPr>
            <a:xfrm>
              <a:off x="10898730" y="-8467"/>
              <a:ext cx="1290094" cy="6866467"/>
            </a:xfrm>
            <a:custGeom>
              <a:rect b="b" l="l" r="r" t="t"/>
              <a:pathLst>
                <a:path extrusionOk="0" h="6858000" w="1290094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18" name="Google Shape;18;p24"/>
            <p:cNvSpPr/>
            <p:nvPr/>
          </p:nvSpPr>
          <p:spPr>
            <a:xfrm>
              <a:off x="10938999" y="-8467"/>
              <a:ext cx="1249825" cy="6866467"/>
            </a:xfrm>
            <a:custGeom>
              <a:rect b="b" l="l" r="r" t="t"/>
              <a:pathLst>
                <a:path extrusionOk="0" h="6858000" w="1249825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19" name="Google Shape;19;p24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fmla="val 100000" name="adj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4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fmla="val 0" name="adj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2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b="0" i="0" sz="36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24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" name="Google Shape;23;p24"/>
          <p:cNvSpPr txBox="1"/>
          <p:nvPr>
            <p:ph idx="10" type="dt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4" name="Google Shape;24;p24"/>
          <p:cNvSpPr txBox="1"/>
          <p:nvPr>
            <p:ph idx="11" type="ftr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5" name="Google Shape;25;p24"/>
          <p:cNvSpPr txBox="1"/>
          <p:nvPr>
            <p:ph idx="12" type="sldNum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2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187018" y="1819373"/>
            <a:ext cx="6612554" cy="15177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b="1" lang="fr-FR"/>
              <a:t>Infrastructure IT pour une clinique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1747479" y="3301711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fr-FR"/>
              <a:t>Aziz BENYAMINA &amp; Ayyoub BELHASSEN &amp; P.LUCAS OBA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08951" y="3671838"/>
            <a:ext cx="5168688" cy="2914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Sommaire </a:t>
            </a:r>
            <a:endParaRPr/>
          </a:p>
        </p:txBody>
      </p:sp>
      <p:sp>
        <p:nvSpPr>
          <p:cNvPr id="155" name="Google Shape;155;p2"/>
          <p:cNvSpPr txBox="1"/>
          <p:nvPr>
            <p:ph idx="1" type="body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1. Contexte du projet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Comment le projet s’</a:t>
            </a:r>
            <a:r>
              <a:rPr lang="fr-FR"/>
              <a:t>intègre</a:t>
            </a:r>
            <a:r>
              <a:rPr lang="fr-FR"/>
              <a:t> dans le contexte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Comment l’intégrer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Difficultés</a:t>
            </a:r>
            <a:r>
              <a:rPr lang="fr-FR"/>
              <a:t> </a:t>
            </a:r>
            <a:r>
              <a:rPr lang="fr-FR"/>
              <a:t>rencontrées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Gestion de projet 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fr-FR"/>
              <a:t>Conclusion </a:t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fr-FR"/>
              <a:t>1. </a:t>
            </a:r>
            <a:r>
              <a:rPr lang="fr-FR"/>
              <a:t>Contexte du Projet</a:t>
            </a:r>
            <a:br>
              <a:rPr b="1" lang="fr-FR"/>
            </a:br>
            <a:r>
              <a:rPr lang="fr-FR"/>
              <a:t> </a:t>
            </a:r>
            <a:endParaRPr/>
          </a:p>
        </p:txBody>
      </p:sp>
      <p:pic>
        <p:nvPicPr>
          <p:cNvPr descr="Nos projets | Ministère des Armées" id="161" name="Google Shape;161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8125" y="1368323"/>
            <a:ext cx="6990299" cy="4995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2207" y="5377691"/>
            <a:ext cx="2574398" cy="1451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fr-FR"/>
              <a:t> </a:t>
            </a:r>
            <a:r>
              <a:rPr lang="fr-FR"/>
              <a:t>Pourquoi ce projet ?</a:t>
            </a:r>
            <a:br>
              <a:rPr b="1" lang="fr-FR"/>
            </a:br>
            <a:endParaRPr/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novant - Icônes la technologie gratuites" id="169" name="Google Shape;16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3972" y="1262466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Comment le projet s’intègre ?</a:t>
            </a:r>
            <a:endParaRPr/>
          </a:p>
        </p:txBody>
      </p:sp>
      <p:sp>
        <p:nvSpPr>
          <p:cNvPr id="175" name="Google Shape;175;p5"/>
          <p:cNvSpPr txBox="1"/>
          <p:nvPr>
            <p:ph idx="1" type="body"/>
          </p:nvPr>
        </p:nvSpPr>
        <p:spPr>
          <a:xfrm>
            <a:off x="367618" y="1567443"/>
            <a:ext cx="8159192" cy="3566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pic>
        <p:nvPicPr>
          <p:cNvPr id="176" name="Google Shape;1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vectorielle Stock « COMMENT ? » Icône Vecteur | Adobe Stock" id="177" name="Google Shape;17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803" y="1358388"/>
            <a:ext cx="8845729" cy="3932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Une messagerie simple et sécurisée</a:t>
            </a:r>
            <a:endParaRPr/>
          </a:p>
        </p:txBody>
      </p:sp>
      <p:pic>
        <p:nvPicPr>
          <p:cNvPr descr="Debian - Icônes Médias sociaux et logos" id="183" name="Google Shape;1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42722" y="583281"/>
            <a:ext cx="1142739" cy="1142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standing the Importance of Email Icons - blog - imaginethatcreative.net" id="185" name="Google Shape;18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37268" y="1610031"/>
            <a:ext cx="4876800" cy="48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14071" y="1930400"/>
            <a:ext cx="1320800" cy="132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 txBox="1"/>
          <p:nvPr>
            <p:ph type="title"/>
          </p:nvPr>
        </p:nvSpPr>
        <p:spPr>
          <a:xfrm>
            <a:off x="805154" y="481781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Création de Boîte mail</a:t>
            </a:r>
            <a:endParaRPr/>
          </a:p>
        </p:txBody>
      </p:sp>
      <p:pic>
        <p:nvPicPr>
          <p:cNvPr id="192" name="Google Shape;1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550" y="1428284"/>
            <a:ext cx="6828940" cy="4789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"/>
          <p:cNvSpPr txBox="1"/>
          <p:nvPr>
            <p:ph type="title"/>
          </p:nvPr>
        </p:nvSpPr>
        <p:spPr>
          <a:xfrm>
            <a:off x="1873502" y="399734"/>
            <a:ext cx="6461825" cy="10564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Interface Graphique </a:t>
            </a:r>
            <a:endParaRPr/>
          </a:p>
        </p:txBody>
      </p:sp>
      <p:pic>
        <p:nvPicPr>
          <p:cNvPr descr="Thunderbird: Free Your Inbox – Applications sur Google Play" id="198" name="Google Shape;1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257169" y="-112967"/>
            <a:ext cx="1410549" cy="1569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9533" y="1630524"/>
            <a:ext cx="9009771" cy="3596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/>
          <p:nvPr/>
        </p:nvSpPr>
        <p:spPr>
          <a:xfrm>
            <a:off x="7944985" y="4454035"/>
            <a:ext cx="2208634" cy="845530"/>
          </a:xfrm>
          <a:prstGeom prst="ellipse">
            <a:avLst/>
          </a:prstGeom>
          <a:solidFill>
            <a:schemeClr val="accent1"/>
          </a:solidFill>
          <a:ln cap="rnd" cmpd="sng" w="19050">
            <a:solidFill>
              <a:srgbClr val="3C51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Mail reçu</a:t>
            </a:r>
            <a:endParaRPr/>
          </a:p>
        </p:txBody>
      </p:sp>
      <p:sp>
        <p:nvSpPr>
          <p:cNvPr id="206" name="Google Shape;206;p9"/>
          <p:cNvSpPr txBox="1"/>
          <p:nvPr>
            <p:ph type="title"/>
          </p:nvPr>
        </p:nvSpPr>
        <p:spPr>
          <a:xfrm>
            <a:off x="687166" y="445663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Test</a:t>
            </a:r>
            <a:endParaRPr/>
          </a:p>
        </p:txBody>
      </p:sp>
      <p:pic>
        <p:nvPicPr>
          <p:cNvPr id="207" name="Google Shape;2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166" y="1056212"/>
            <a:ext cx="6190254" cy="2156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117" y="3695555"/>
            <a:ext cx="7483488" cy="20728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9"/>
          <p:cNvSpPr/>
          <p:nvPr/>
        </p:nvSpPr>
        <p:spPr>
          <a:xfrm>
            <a:off x="7057700" y="2252263"/>
            <a:ext cx="3108855" cy="1005721"/>
          </a:xfrm>
          <a:prstGeom prst="ellipse">
            <a:avLst/>
          </a:prstGeom>
          <a:solidFill>
            <a:schemeClr val="accent1"/>
          </a:solidFill>
          <a:ln cap="rnd" cmpd="sng" w="19050">
            <a:solidFill>
              <a:srgbClr val="3C51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10" name="Google Shape;210;p9"/>
          <p:cNvCxnSpPr/>
          <p:nvPr/>
        </p:nvCxnSpPr>
        <p:spPr>
          <a:xfrm rot="10800000">
            <a:off x="5345028" y="2124149"/>
            <a:ext cx="1842057" cy="457481"/>
          </a:xfrm>
          <a:prstGeom prst="straightConnector1">
            <a:avLst/>
          </a:prstGeom>
          <a:noFill/>
          <a:ln cap="rnd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" name="Google Shape;211;p9"/>
          <p:cNvSpPr txBox="1"/>
          <p:nvPr/>
        </p:nvSpPr>
        <p:spPr>
          <a:xfrm>
            <a:off x="7728155" y="2424659"/>
            <a:ext cx="24384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Envoyer Un mail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aziz@clinique.local</a:t>
            </a:r>
            <a:endParaRPr sz="1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212" name="Google Shape;212;p9"/>
          <p:cNvCxnSpPr/>
          <p:nvPr/>
        </p:nvCxnSpPr>
        <p:spPr>
          <a:xfrm rot="10800000">
            <a:off x="4503174" y="4587131"/>
            <a:ext cx="3785420" cy="289669"/>
          </a:xfrm>
          <a:prstGeom prst="straightConnector1">
            <a:avLst/>
          </a:prstGeom>
          <a:noFill/>
          <a:ln cap="rnd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13" name="Google Shape;21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fr-FR"/>
              <a:t>Système de gestion des accès personnalisés</a:t>
            </a:r>
            <a:endParaRPr/>
          </a:p>
        </p:txBody>
      </p:sp>
      <p:pic>
        <p:nvPicPr>
          <p:cNvPr id="219" name="Google Shape;2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0"/>
          <p:cNvPicPr preferRelativeResize="0"/>
          <p:nvPr/>
        </p:nvPicPr>
        <p:blipFill rotWithShape="1">
          <a:blip r:embed="rId4">
            <a:alphaModFix/>
          </a:blip>
          <a:srcRect b="-5330" l="1910" r="-1910" t="5330"/>
          <a:stretch/>
        </p:blipFill>
        <p:spPr>
          <a:xfrm>
            <a:off x="2312775" y="1930400"/>
            <a:ext cx="6083467" cy="462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Un site web pour la clinique</a:t>
            </a:r>
            <a:endParaRPr/>
          </a:p>
        </p:txBody>
      </p:sp>
      <p:pic>
        <p:nvPicPr>
          <p:cNvPr descr="Debian - Icônes Médias sociaux et logos" id="226" name="Google Shape;22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3019" y="374997"/>
            <a:ext cx="1142739" cy="1142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te Web Art vectoriel, icônes et graphiques à télécharger gratuitement" id="228" name="Google Shape;22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7310" y="1517736"/>
            <a:ext cx="7056715" cy="498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Page de connexion </a:t>
            </a:r>
            <a:endParaRPr/>
          </a:p>
        </p:txBody>
      </p:sp>
      <p:pic>
        <p:nvPicPr>
          <p:cNvPr id="234" name="Google Shape;23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405" y="1509660"/>
            <a:ext cx="9196525" cy="4133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972" y="1377897"/>
            <a:ext cx="9533889" cy="4305147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Site WEB</a:t>
            </a:r>
            <a:endParaRPr/>
          </a:p>
        </p:txBody>
      </p:sp>
      <p:pic>
        <p:nvPicPr>
          <p:cNvPr id="241" name="Google Shape;24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U</a:t>
            </a:r>
            <a:r>
              <a:rPr lang="fr-FR"/>
              <a:t>n système pour signaler et résoudre les problèmes informatiques</a:t>
            </a:r>
            <a:endParaRPr/>
          </a:p>
        </p:txBody>
      </p:sp>
      <p:pic>
        <p:nvPicPr>
          <p:cNvPr id="247" name="Google Shape;24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7275" y="2243750"/>
            <a:ext cx="8096774" cy="34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Difficultés</a:t>
            </a:r>
            <a:endParaRPr/>
          </a:p>
        </p:txBody>
      </p:sp>
      <p:pic>
        <p:nvPicPr>
          <p:cNvPr id="254" name="Google Shape;25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4263" y="1823025"/>
            <a:ext cx="4622800" cy="46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"/>
          <p:cNvSpPr txBox="1"/>
          <p:nvPr>
            <p:ph type="title"/>
          </p:nvPr>
        </p:nvSpPr>
        <p:spPr>
          <a:xfrm>
            <a:off x="529850" y="570271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rebuchet MS"/>
              <a:buNone/>
            </a:pPr>
            <a:r>
              <a:rPr lang="fr-FR"/>
              <a:t> Problèmes d'authentification : ajustements AD</a:t>
            </a:r>
            <a:br>
              <a:rPr lang="fr-FR"/>
            </a:br>
            <a:endParaRPr/>
          </a:p>
        </p:txBody>
      </p:sp>
      <p:pic>
        <p:nvPicPr>
          <p:cNvPr id="261" name="Google Shape;2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9550" y="1479025"/>
            <a:ext cx="4622725" cy="462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Organisation du travail </a:t>
            </a:r>
            <a:br>
              <a:rPr lang="fr-FR"/>
            </a:br>
            <a:endParaRPr/>
          </a:p>
        </p:txBody>
      </p:sp>
      <p:pic>
        <p:nvPicPr>
          <p:cNvPr id="268" name="Google Shape;2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9369" y="1117600"/>
            <a:ext cx="4622801" cy="462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b="1" lang="fr-FR"/>
              <a:t>Sécurité</a:t>
            </a:r>
            <a:br>
              <a:rPr b="1" lang="fr-FR"/>
            </a:br>
            <a:endParaRPr/>
          </a:p>
        </p:txBody>
      </p:sp>
      <p:pic>
        <p:nvPicPr>
          <p:cNvPr id="275" name="Google Shape;2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802" y="1474882"/>
            <a:ext cx="7697430" cy="4672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Gestion de projet </a:t>
            </a:r>
            <a:endParaRPr/>
          </a:p>
        </p:txBody>
      </p:sp>
      <p:pic>
        <p:nvPicPr>
          <p:cNvPr id="281" name="Google Shape;2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loué, on va vers du 100 % compétences sur tous les niveaux!! – Blog  enseignant des maths" id="282" name="Google Shape;2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1740" y="1376389"/>
            <a:ext cx="6682555" cy="4872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Récupérer un projet d'un autre groupe</a:t>
            </a:r>
            <a:endParaRPr/>
          </a:p>
        </p:txBody>
      </p:sp>
      <p:pic>
        <p:nvPicPr>
          <p:cNvPr descr="Top 10 des meilleurs logiciels de gestion de projet (2025)" id="288" name="Google Shape;2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992" y="1201174"/>
            <a:ext cx="8142202" cy="5277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3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fr-FR"/>
              <a:t>Conclusion</a:t>
            </a:r>
            <a:endParaRPr/>
          </a:p>
        </p:txBody>
      </p:sp>
      <p:pic>
        <p:nvPicPr>
          <p:cNvPr descr="Concept De Conclusion Avec La Loupe Illustration Stock - Illustration du  fond, abstrait: 105312416" id="295" name="Google Shape;2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081" y="1350399"/>
            <a:ext cx="8050504" cy="5424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3670" y="5435281"/>
            <a:ext cx="2522954" cy="1422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te">
  <a:themeElements>
    <a:clrScheme name="Facette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2025-03-30T21:21:41Z</dcterms:created>
  <dc:creator>bachir benyamina</dc:creator>
</cp:coreProperties>
</file>