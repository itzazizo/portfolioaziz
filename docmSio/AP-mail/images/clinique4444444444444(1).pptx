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showMasterSp="0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2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8" name="Google Shape;28;p2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" name="Google Shape;29;p2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0" name="Google Shape;30;p2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803"/>
              </a:schemeClr>
            </a:solidFill>
            <a:ln>
              <a:noFill/>
            </a:ln>
          </p:spPr>
        </p:sp>
        <p:sp>
          <p:nvSpPr>
            <p:cNvPr id="31" name="Google Shape;31;p2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32" name="Google Shape;32;p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803"/>
              </a:srgbClr>
            </a:solidFill>
            <a:ln>
              <a:noFill/>
            </a:ln>
          </p:spPr>
        </p:sp>
        <p:sp>
          <p:nvSpPr>
            <p:cNvPr id="34" name="Google Shape;34;p2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803"/>
              </a:srgbClr>
            </a:solidFill>
            <a:ln>
              <a:noFill/>
            </a:ln>
          </p:spPr>
        </p:sp>
        <p:sp>
          <p:nvSpPr>
            <p:cNvPr id="35" name="Google Shape;35;p2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705"/>
              </a:schemeClr>
            </a:solidFill>
            <a:ln>
              <a:noFill/>
            </a:ln>
          </p:spPr>
        </p:sp>
        <p:sp>
          <p:nvSpPr>
            <p:cNvPr id="36" name="Google Shape;36;p2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" name="Google Shape;38;p2"/>
          <p:cNvSpPr txBox="1"/>
          <p:nvPr>
            <p:ph type="ctrTitle"/>
          </p:nvPr>
        </p:nvSpPr>
        <p:spPr>
          <a:xfrm>
            <a:off x="1507067" y="2404534"/>
            <a:ext cx="7766936" cy="16463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"/>
          <p:cNvSpPr txBox="1"/>
          <p:nvPr>
            <p:ph idx="1" type="subTitle"/>
          </p:nvPr>
        </p:nvSpPr>
        <p:spPr>
          <a:xfrm>
            <a:off x="1507067" y="4050833"/>
            <a:ext cx="7766936" cy="1096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7F7F7F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2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46" name="Google Shape;46;p3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"/>
          <p:cNvSpPr txBox="1"/>
          <p:nvPr>
            <p:ph type="title"/>
          </p:nvPr>
        </p:nvSpPr>
        <p:spPr>
          <a:xfrm>
            <a:off x="677335" y="2700867"/>
            <a:ext cx="8596668" cy="1826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"/>
          <p:cNvSpPr txBox="1"/>
          <p:nvPr>
            <p:ph idx="1" type="body"/>
          </p:nvPr>
        </p:nvSpPr>
        <p:spPr>
          <a:xfrm>
            <a:off x="677335" y="4527448"/>
            <a:ext cx="85966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7" name="Google Shape;57;p5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5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6"/>
          <p:cNvSpPr txBox="1"/>
          <p:nvPr>
            <p:ph idx="1" type="body"/>
          </p:nvPr>
        </p:nvSpPr>
        <p:spPr>
          <a:xfrm>
            <a:off x="677334" y="2160589"/>
            <a:ext cx="4184035" cy="3880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3" name="Google Shape;63;p6"/>
          <p:cNvSpPr txBox="1"/>
          <p:nvPr>
            <p:ph idx="2" type="body"/>
          </p:nvPr>
        </p:nvSpPr>
        <p:spPr>
          <a:xfrm>
            <a:off x="5089970" y="2160589"/>
            <a:ext cx="418403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4" name="Google Shape;64;p6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6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7"/>
          <p:cNvSpPr txBox="1"/>
          <p:nvPr>
            <p:ph idx="1" type="body"/>
          </p:nvPr>
        </p:nvSpPr>
        <p:spPr>
          <a:xfrm>
            <a:off x="675745" y="2160983"/>
            <a:ext cx="418562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70" name="Google Shape;70;p7"/>
          <p:cNvSpPr txBox="1"/>
          <p:nvPr>
            <p:ph idx="2" type="body"/>
          </p:nvPr>
        </p:nvSpPr>
        <p:spPr>
          <a:xfrm>
            <a:off x="675745" y="2737245"/>
            <a:ext cx="4185623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idx="3" type="body"/>
          </p:nvPr>
        </p:nvSpPr>
        <p:spPr>
          <a:xfrm>
            <a:off x="5088383" y="2160983"/>
            <a:ext cx="418561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72" name="Google Shape;72;p7"/>
          <p:cNvSpPr txBox="1"/>
          <p:nvPr>
            <p:ph idx="4" type="body"/>
          </p:nvPr>
        </p:nvSpPr>
        <p:spPr>
          <a:xfrm>
            <a:off x="5088384" y="2737245"/>
            <a:ext cx="4185617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73" name="Google Shape;73;p7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7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7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8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8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"/>
          <p:cNvSpPr txBox="1"/>
          <p:nvPr>
            <p:ph type="title"/>
          </p:nvPr>
        </p:nvSpPr>
        <p:spPr>
          <a:xfrm>
            <a:off x="677334" y="1498604"/>
            <a:ext cx="3854528" cy="12784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rebuchet MS"/>
              <a:buNone/>
              <a:defRPr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9"/>
          <p:cNvSpPr txBox="1"/>
          <p:nvPr>
            <p:ph idx="1" type="body"/>
          </p:nvPr>
        </p:nvSpPr>
        <p:spPr>
          <a:xfrm>
            <a:off x="4760461" y="514924"/>
            <a:ext cx="4513541" cy="5526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83" name="Google Shape;83;p9"/>
          <p:cNvSpPr txBox="1"/>
          <p:nvPr>
            <p:ph idx="2" type="body"/>
          </p:nvPr>
        </p:nvSpPr>
        <p:spPr>
          <a:xfrm>
            <a:off x="677334" y="2777069"/>
            <a:ext cx="3854528" cy="2584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9pPr>
          </a:lstStyle>
          <a:p/>
        </p:txBody>
      </p:sp>
      <p:sp>
        <p:nvSpPr>
          <p:cNvPr id="84" name="Google Shape;84;p9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9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9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0"/>
          <p:cNvSpPr txBox="1"/>
          <p:nvPr>
            <p:ph type="title"/>
          </p:nvPr>
        </p:nvSpPr>
        <p:spPr>
          <a:xfrm>
            <a:off x="677334" y="4800600"/>
            <a:ext cx="859666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0"/>
          <p:cNvSpPr/>
          <p:nvPr>
            <p:ph idx="2" type="pic"/>
          </p:nvPr>
        </p:nvSpPr>
        <p:spPr>
          <a:xfrm>
            <a:off x="677334" y="609600"/>
            <a:ext cx="8596668" cy="3845718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677334" y="5367338"/>
            <a:ext cx="8596667" cy="674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1" name="Google Shape;91;p10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0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légende">
  <p:cSld name="Titre et légende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1"/>
          <p:cNvSpPr txBox="1"/>
          <p:nvPr>
            <p:ph type="title"/>
          </p:nvPr>
        </p:nvSpPr>
        <p:spPr>
          <a:xfrm>
            <a:off x="677335" y="609600"/>
            <a:ext cx="8596668" cy="34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tion avec légende">
  <p:cSld name="Citation avec légende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2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2"/>
          <p:cNvSpPr txBox="1"/>
          <p:nvPr>
            <p:ph idx="1" type="body"/>
          </p:nvPr>
        </p:nvSpPr>
        <p:spPr>
          <a:xfrm>
            <a:off x="1366139" y="3632200"/>
            <a:ext cx="722452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2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4" name="Google Shape;104;p12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2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07" name="Google Shape;107;p12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08" name="Google Shape;108;p12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800">
              <a:solidFill>
                <a:srgbClr val="BFE47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te nom">
  <p:cSld name="Carte nom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3"/>
          <p:cNvSpPr txBox="1"/>
          <p:nvPr>
            <p:ph type="title"/>
          </p:nvPr>
        </p:nvSpPr>
        <p:spPr>
          <a:xfrm>
            <a:off x="677335" y="1931988"/>
            <a:ext cx="8596668" cy="25954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3"/>
          <p:cNvSpPr txBox="1"/>
          <p:nvPr>
            <p:ph idx="1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3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3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te nom citation">
  <p:cSld name="Carte nom citation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4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4"/>
          <p:cNvSpPr txBox="1"/>
          <p:nvPr>
            <p:ph idx="1" type="body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18" name="Google Shape;118;p14"/>
          <p:cNvSpPr txBox="1"/>
          <p:nvPr>
            <p:ph idx="2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4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4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rai ou faux">
  <p:cSld name="Vrai ou faux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/>
          <p:nvPr>
            <p:ph type="title"/>
          </p:nvPr>
        </p:nvSpPr>
        <p:spPr>
          <a:xfrm>
            <a:off x="685799" y="609600"/>
            <a:ext cx="8588203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5"/>
          <p:cNvSpPr txBox="1"/>
          <p:nvPr>
            <p:ph idx="1" type="body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7" name="Google Shape;127;p15"/>
          <p:cNvSpPr txBox="1"/>
          <p:nvPr>
            <p:ph idx="2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8" name="Google Shape;128;p15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5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5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6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6"/>
          <p:cNvSpPr txBox="1"/>
          <p:nvPr>
            <p:ph idx="1" type="body"/>
          </p:nvPr>
        </p:nvSpPr>
        <p:spPr>
          <a:xfrm rot="5400000">
            <a:off x="3035281" y="-197358"/>
            <a:ext cx="3880773" cy="8596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4" name="Google Shape;134;p16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6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6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 txBox="1"/>
          <p:nvPr>
            <p:ph type="title"/>
          </p:nvPr>
        </p:nvSpPr>
        <p:spPr>
          <a:xfrm rot="5400000">
            <a:off x="5994319" y="2582953"/>
            <a:ext cx="5251451" cy="13047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7"/>
          <p:cNvSpPr txBox="1"/>
          <p:nvPr>
            <p:ph idx="1" type="body"/>
          </p:nvPr>
        </p:nvSpPr>
        <p:spPr>
          <a:xfrm rot="5400000">
            <a:off x="1581685" y="-294750"/>
            <a:ext cx="5251450" cy="706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0" name="Google Shape;140;p17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7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7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Google Shape;11;p1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" name="Google Shape;12;p1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" name="Google Shape;13;p1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803"/>
              </a:schemeClr>
            </a:solidFill>
            <a:ln>
              <a:noFill/>
            </a:ln>
          </p:spPr>
        </p:sp>
        <p:sp>
          <p:nvSpPr>
            <p:cNvPr id="14" name="Google Shape;14;p1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15" name="Google Shape;15;p1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803"/>
              </a:srgbClr>
            </a:solidFill>
            <a:ln>
              <a:noFill/>
            </a:ln>
          </p:spPr>
        </p:sp>
        <p:sp>
          <p:nvSpPr>
            <p:cNvPr id="17" name="Google Shape;17;p1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803"/>
              </a:srgbClr>
            </a:solidFill>
            <a:ln>
              <a:noFill/>
            </a:ln>
          </p:spPr>
        </p:sp>
        <p:sp>
          <p:nvSpPr>
            <p:cNvPr id="18" name="Google Shape;18;p1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705"/>
              </a:schemeClr>
            </a:solidFill>
            <a:ln>
              <a:noFill/>
            </a:ln>
          </p:spPr>
        </p:sp>
        <p:sp>
          <p:nvSpPr>
            <p:cNvPr id="19" name="Google Shape;19;p1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8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1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" name="Google Shape;22;p1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99719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89559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89559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3" name="Google Shape;23;p1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4" name="Google Shape;24;p1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5" name="Google Shape;25;p1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png"/><Relationship Id="rId4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17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.png"/><Relationship Id="rId4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7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 txBox="1"/>
          <p:nvPr>
            <p:ph type="ctrTitle"/>
          </p:nvPr>
        </p:nvSpPr>
        <p:spPr>
          <a:xfrm>
            <a:off x="2187018" y="1819373"/>
            <a:ext cx="6612554" cy="15177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rebuchet MS"/>
              <a:buNone/>
            </a:pPr>
            <a:r>
              <a:rPr b="1" lang="fr-FR"/>
              <a:t>Infrastructure IT pour une clinique</a:t>
            </a:r>
            <a:endParaRPr/>
          </a:p>
        </p:txBody>
      </p:sp>
      <p:sp>
        <p:nvSpPr>
          <p:cNvPr id="148" name="Google Shape;148;p18"/>
          <p:cNvSpPr txBox="1"/>
          <p:nvPr>
            <p:ph idx="1" type="subTitle"/>
          </p:nvPr>
        </p:nvSpPr>
        <p:spPr>
          <a:xfrm>
            <a:off x="1747479" y="3301711"/>
            <a:ext cx="7766936" cy="1096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fr-FR"/>
              <a:t>Aziz BENYAMINA &amp; Ayyoub BELHASSEN &amp; P.LUCAS OBA</a:t>
            </a:r>
            <a:endParaRPr/>
          </a:p>
        </p:txBody>
      </p:sp>
      <p:pic>
        <p:nvPicPr>
          <p:cNvPr id="149" name="Google Shape;14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08951" y="3671838"/>
            <a:ext cx="5168688" cy="2914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fr-FR"/>
              <a:t>Sommaire </a:t>
            </a:r>
            <a:endParaRPr/>
          </a:p>
        </p:txBody>
      </p:sp>
      <p:sp>
        <p:nvSpPr>
          <p:cNvPr id="155" name="Google Shape;155;p19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fr-FR"/>
              <a:t>1. Contexte du projet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fr-FR"/>
              <a:t>Comment le projet s’</a:t>
            </a:r>
            <a:r>
              <a:rPr lang="fr-FR"/>
              <a:t>intègre</a:t>
            </a:r>
            <a:r>
              <a:rPr lang="fr-FR"/>
              <a:t> dans le contexte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fr-FR"/>
              <a:t>Comment l’intégrer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fr-FR"/>
              <a:t>Difficultés</a:t>
            </a:r>
            <a:r>
              <a:rPr lang="fr-FR"/>
              <a:t> </a:t>
            </a:r>
            <a:r>
              <a:rPr lang="fr-FR"/>
              <a:t>rencontrées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fr-FR"/>
              <a:t>Gestion de projet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fr-FR"/>
              <a:t>Conclusion </a:t>
            </a:r>
            <a:endParaRPr/>
          </a:p>
          <a:p>
            <a:pPr indent="-251459" lvl="0" marL="34290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b="1" lang="fr-FR"/>
              <a:t>1. </a:t>
            </a:r>
            <a:r>
              <a:rPr lang="fr-FR"/>
              <a:t>Contexte du Projet</a:t>
            </a:r>
            <a:br>
              <a:rPr b="1" lang="fr-FR"/>
            </a:br>
            <a:r>
              <a:rPr lang="fr-FR"/>
              <a:t> </a:t>
            </a:r>
            <a:endParaRPr/>
          </a:p>
        </p:txBody>
      </p:sp>
      <p:pic>
        <p:nvPicPr>
          <p:cNvPr descr="Nos projets | Ministère des Armées" id="161" name="Google Shape;161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8125" y="1368323"/>
            <a:ext cx="6990299" cy="4995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62207" y="5377691"/>
            <a:ext cx="2574398" cy="1451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b="1" lang="fr-FR"/>
              <a:t> </a:t>
            </a:r>
            <a:r>
              <a:rPr lang="fr-FR"/>
              <a:t>Pourquoi ce projet ?</a:t>
            </a:r>
            <a:br>
              <a:rPr b="1" lang="fr-FR"/>
            </a:br>
            <a:endParaRPr/>
          </a:p>
        </p:txBody>
      </p:sp>
      <p:pic>
        <p:nvPicPr>
          <p:cNvPr id="168" name="Google Shape;16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3670" y="5435281"/>
            <a:ext cx="2522954" cy="14227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novant - Icônes la technologie gratuites" id="169" name="Google Shape;16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53972" y="1262466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fr-FR"/>
              <a:t>Comment le projet s’intègre ?</a:t>
            </a:r>
            <a:endParaRPr/>
          </a:p>
        </p:txBody>
      </p:sp>
      <p:sp>
        <p:nvSpPr>
          <p:cNvPr id="175" name="Google Shape;175;p22"/>
          <p:cNvSpPr txBox="1"/>
          <p:nvPr>
            <p:ph idx="1" type="body"/>
          </p:nvPr>
        </p:nvSpPr>
        <p:spPr>
          <a:xfrm>
            <a:off x="367618" y="1567443"/>
            <a:ext cx="8159192" cy="3566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1"/>
          </a:p>
          <a:p>
            <a:pPr indent="-251459" lvl="0" marL="34290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  <p:pic>
        <p:nvPicPr>
          <p:cNvPr id="176" name="Google Shape;17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3670" y="5435281"/>
            <a:ext cx="2522954" cy="14227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vectorielle Stock « COMMENT ? » Icône Vecteur | Adobe Stock" id="177" name="Google Shape;17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803" y="1358388"/>
            <a:ext cx="8845729" cy="39321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fr-FR"/>
              <a:t>Une messagerie simple et sécurisée</a:t>
            </a:r>
            <a:endParaRPr/>
          </a:p>
        </p:txBody>
      </p:sp>
      <p:pic>
        <p:nvPicPr>
          <p:cNvPr descr="Debian - Icônes Médias sociaux et logos" id="183" name="Google Shape;18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42722" y="583281"/>
            <a:ext cx="1142739" cy="1142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83670" y="5435281"/>
            <a:ext cx="2522954" cy="14227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derstanding the Importance of Email Icons - blog - imaginethatcreative.net" id="185" name="Google Shape;18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37268" y="1610031"/>
            <a:ext cx="4876800" cy="48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14071" y="1930400"/>
            <a:ext cx="1320800" cy="132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4"/>
          <p:cNvSpPr txBox="1"/>
          <p:nvPr>
            <p:ph type="title"/>
          </p:nvPr>
        </p:nvSpPr>
        <p:spPr>
          <a:xfrm>
            <a:off x="805154" y="481781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fr-FR"/>
              <a:t>Création de Boîte mail</a:t>
            </a:r>
            <a:endParaRPr/>
          </a:p>
        </p:txBody>
      </p:sp>
      <p:pic>
        <p:nvPicPr>
          <p:cNvPr id="192" name="Google Shape;19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550" y="1428284"/>
            <a:ext cx="6828940" cy="47895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5"/>
          <p:cNvSpPr txBox="1"/>
          <p:nvPr>
            <p:ph type="title"/>
          </p:nvPr>
        </p:nvSpPr>
        <p:spPr>
          <a:xfrm>
            <a:off x="1873502" y="399734"/>
            <a:ext cx="6461825" cy="1056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fr-FR"/>
              <a:t>Interface Graphique </a:t>
            </a:r>
            <a:endParaRPr/>
          </a:p>
        </p:txBody>
      </p:sp>
      <p:pic>
        <p:nvPicPr>
          <p:cNvPr descr="Thunderbird: Free Your Inbox – Applications sur Google Play" id="198" name="Google Shape;19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257169" y="-112967"/>
            <a:ext cx="1410549" cy="1569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83670" y="5435281"/>
            <a:ext cx="2522954" cy="1422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9533" y="1630524"/>
            <a:ext cx="9009771" cy="3596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6"/>
          <p:cNvSpPr/>
          <p:nvPr/>
        </p:nvSpPr>
        <p:spPr>
          <a:xfrm>
            <a:off x="7944985" y="4454035"/>
            <a:ext cx="2208634" cy="845530"/>
          </a:xfrm>
          <a:prstGeom prst="ellipse">
            <a:avLst/>
          </a:prstGeom>
          <a:solidFill>
            <a:schemeClr val="accent1"/>
          </a:solidFill>
          <a:ln cap="rnd" cmpd="sng" w="19050">
            <a:solidFill>
              <a:srgbClr val="3C51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Mail reçu</a:t>
            </a:r>
            <a:endParaRPr/>
          </a:p>
        </p:txBody>
      </p:sp>
      <p:sp>
        <p:nvSpPr>
          <p:cNvPr id="206" name="Google Shape;206;p26"/>
          <p:cNvSpPr txBox="1"/>
          <p:nvPr>
            <p:ph type="title"/>
          </p:nvPr>
        </p:nvSpPr>
        <p:spPr>
          <a:xfrm>
            <a:off x="687166" y="445663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fr-FR"/>
              <a:t>Test</a:t>
            </a:r>
            <a:endParaRPr/>
          </a:p>
        </p:txBody>
      </p:sp>
      <p:pic>
        <p:nvPicPr>
          <p:cNvPr id="207" name="Google Shape;20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7166" y="1056212"/>
            <a:ext cx="6190254" cy="2156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7117" y="3695555"/>
            <a:ext cx="7483488" cy="207282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6"/>
          <p:cNvSpPr/>
          <p:nvPr/>
        </p:nvSpPr>
        <p:spPr>
          <a:xfrm>
            <a:off x="7057700" y="2252263"/>
            <a:ext cx="3108855" cy="1005721"/>
          </a:xfrm>
          <a:prstGeom prst="ellipse">
            <a:avLst/>
          </a:prstGeom>
          <a:solidFill>
            <a:schemeClr val="accent1"/>
          </a:solidFill>
          <a:ln cap="rnd" cmpd="sng" w="19050">
            <a:solidFill>
              <a:srgbClr val="3C51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210" name="Google Shape;210;p26"/>
          <p:cNvCxnSpPr/>
          <p:nvPr/>
        </p:nvCxnSpPr>
        <p:spPr>
          <a:xfrm rot="10800000">
            <a:off x="5345028" y="2124149"/>
            <a:ext cx="1842057" cy="457481"/>
          </a:xfrm>
          <a:prstGeom prst="straightConnector1">
            <a:avLst/>
          </a:prstGeom>
          <a:noFill/>
          <a:ln cap="rnd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1" name="Google Shape;211;p26"/>
          <p:cNvSpPr txBox="1"/>
          <p:nvPr/>
        </p:nvSpPr>
        <p:spPr>
          <a:xfrm>
            <a:off x="7728155" y="2424659"/>
            <a:ext cx="2438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Envoyer Un mail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aziz@clinique.local</a:t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212" name="Google Shape;212;p26"/>
          <p:cNvCxnSpPr/>
          <p:nvPr/>
        </p:nvCxnSpPr>
        <p:spPr>
          <a:xfrm rot="10800000">
            <a:off x="4503174" y="4587131"/>
            <a:ext cx="3785420" cy="289669"/>
          </a:xfrm>
          <a:prstGeom prst="straightConnector1">
            <a:avLst/>
          </a:prstGeom>
          <a:noFill/>
          <a:ln cap="rnd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213" name="Google Shape;213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83670" y="5435281"/>
            <a:ext cx="2522954" cy="1422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b="1" lang="fr-FR"/>
              <a:t>Système de gestion des accès personnalisés</a:t>
            </a:r>
            <a:endParaRPr/>
          </a:p>
        </p:txBody>
      </p:sp>
      <p:pic>
        <p:nvPicPr>
          <p:cNvPr id="219" name="Google Shape;21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3670" y="5435281"/>
            <a:ext cx="2522954" cy="1422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7"/>
          <p:cNvPicPr preferRelativeResize="0"/>
          <p:nvPr/>
        </p:nvPicPr>
        <p:blipFill rotWithShape="1">
          <a:blip r:embed="rId4">
            <a:alphaModFix/>
          </a:blip>
          <a:srcRect b="-5330" l="1910" r="-1910" t="5330"/>
          <a:stretch/>
        </p:blipFill>
        <p:spPr>
          <a:xfrm>
            <a:off x="2312775" y="1930400"/>
            <a:ext cx="6083467" cy="4622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8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fr-FR"/>
              <a:t>Un site web pour la clinique</a:t>
            </a:r>
            <a:endParaRPr/>
          </a:p>
        </p:txBody>
      </p:sp>
      <p:pic>
        <p:nvPicPr>
          <p:cNvPr descr="Debian - Icônes Médias sociaux et logos" id="226" name="Google Shape;22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3019" y="374997"/>
            <a:ext cx="1142739" cy="1142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83670" y="5435281"/>
            <a:ext cx="2522954" cy="14227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ite Web Art vectoriel, icônes et graphiques à télécharger gratuitement" id="228" name="Google Shape;228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47310" y="1517736"/>
            <a:ext cx="7056715" cy="498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9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fr-FR"/>
              <a:t>Page de connexion </a:t>
            </a:r>
            <a:endParaRPr/>
          </a:p>
        </p:txBody>
      </p:sp>
      <p:pic>
        <p:nvPicPr>
          <p:cNvPr id="234" name="Google Shape;23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405" y="1509660"/>
            <a:ext cx="9196525" cy="4133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972" y="1377897"/>
            <a:ext cx="9533889" cy="4305147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0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fr-FR"/>
              <a:t>Site WEB</a:t>
            </a:r>
            <a:endParaRPr/>
          </a:p>
        </p:txBody>
      </p:sp>
      <p:pic>
        <p:nvPicPr>
          <p:cNvPr id="241" name="Google Shape;24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83670" y="5435281"/>
            <a:ext cx="2522954" cy="1422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fr-FR"/>
              <a:t>U</a:t>
            </a:r>
            <a:r>
              <a:rPr lang="fr-FR"/>
              <a:t>n système pour signaler et résoudre les problèmes informatiques</a:t>
            </a:r>
            <a:endParaRPr/>
          </a:p>
        </p:txBody>
      </p:sp>
      <p:pic>
        <p:nvPicPr>
          <p:cNvPr id="247" name="Google Shape;24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3670" y="5435281"/>
            <a:ext cx="2522954" cy="1422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7275" y="2243750"/>
            <a:ext cx="8096774" cy="34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2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fr-FR"/>
              <a:t>Difficultés</a:t>
            </a:r>
            <a:endParaRPr/>
          </a:p>
        </p:txBody>
      </p:sp>
      <p:pic>
        <p:nvPicPr>
          <p:cNvPr id="254" name="Google Shape;25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3670" y="5435281"/>
            <a:ext cx="2522954" cy="1422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4263" y="1823025"/>
            <a:ext cx="4622800" cy="462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3"/>
          <p:cNvSpPr txBox="1"/>
          <p:nvPr>
            <p:ph type="title"/>
          </p:nvPr>
        </p:nvSpPr>
        <p:spPr>
          <a:xfrm>
            <a:off x="529850" y="570271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rebuchet MS"/>
              <a:buNone/>
            </a:pPr>
            <a:r>
              <a:rPr lang="fr-FR"/>
              <a:t> Problèmes d'authentification : ajustements AD</a:t>
            </a:r>
            <a:br>
              <a:rPr lang="fr-FR"/>
            </a:br>
            <a:endParaRPr/>
          </a:p>
        </p:txBody>
      </p:sp>
      <p:pic>
        <p:nvPicPr>
          <p:cNvPr id="261" name="Google Shape;26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8011" y="1431498"/>
            <a:ext cx="8045249" cy="4620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83670" y="5435281"/>
            <a:ext cx="2522954" cy="1422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4"/>
          <p:cNvSpPr txBox="1"/>
          <p:nvPr>
            <p:ph type="title"/>
          </p:nvPr>
        </p:nvSpPr>
        <p:spPr>
          <a:xfrm>
            <a:off x="608508" y="760362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fr-FR"/>
              <a:t>Pfsense </a:t>
            </a:r>
            <a:endParaRPr/>
          </a:p>
        </p:txBody>
      </p:sp>
      <p:pic>
        <p:nvPicPr>
          <p:cNvPr id="268" name="Google Shape;26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3670" y="5435281"/>
            <a:ext cx="2522954" cy="142271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4"/>
          <p:cNvSpPr txBox="1"/>
          <p:nvPr/>
        </p:nvSpPr>
        <p:spPr>
          <a:xfrm>
            <a:off x="2335350" y="952598"/>
            <a:ext cx="79483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: Problème de communication avec le internet .</a:t>
            </a:r>
            <a:endParaRPr/>
          </a:p>
        </p:txBody>
      </p:sp>
      <p:pic>
        <p:nvPicPr>
          <p:cNvPr id="270" name="Google Shape;270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2279" y="1542096"/>
            <a:ext cx="6424300" cy="51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5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fr-FR"/>
              <a:t>Organisation du travail </a:t>
            </a:r>
            <a:br>
              <a:rPr lang="fr-FR"/>
            </a:br>
            <a:endParaRPr/>
          </a:p>
        </p:txBody>
      </p:sp>
      <p:pic>
        <p:nvPicPr>
          <p:cNvPr id="276" name="Google Shape;27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7114" y="1674760"/>
            <a:ext cx="8659539" cy="3801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83670" y="5435281"/>
            <a:ext cx="2522954" cy="1422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6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b="1" lang="fr-FR"/>
              <a:t>Sécurité</a:t>
            </a:r>
            <a:br>
              <a:rPr b="1" lang="fr-FR"/>
            </a:br>
            <a:endParaRPr/>
          </a:p>
        </p:txBody>
      </p:sp>
      <p:pic>
        <p:nvPicPr>
          <p:cNvPr id="283" name="Google Shape;28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802" y="1474882"/>
            <a:ext cx="7697430" cy="4672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7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fr-FR"/>
              <a:t>Gestion de projet </a:t>
            </a:r>
            <a:endParaRPr/>
          </a:p>
        </p:txBody>
      </p:sp>
      <p:pic>
        <p:nvPicPr>
          <p:cNvPr id="289" name="Google Shape;28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3670" y="5435281"/>
            <a:ext cx="2522954" cy="14227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loué, on va vers du 100 % compétences sur tous les niveaux!! – Blog  enseignant des maths" id="290" name="Google Shape;290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71740" y="1376389"/>
            <a:ext cx="6682555" cy="48720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8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fr-FR"/>
              <a:t>Récupérer un projet d'un autre groupe</a:t>
            </a:r>
            <a:endParaRPr/>
          </a:p>
        </p:txBody>
      </p:sp>
      <p:pic>
        <p:nvPicPr>
          <p:cNvPr descr="Top 10 des meilleurs logiciels de gestion de projet (2025)" id="296" name="Google Shape;29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992" y="1201174"/>
            <a:ext cx="8142202" cy="52773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83670" y="5435281"/>
            <a:ext cx="2522954" cy="1422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9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fr-FR"/>
              <a:t>Création des tickets</a:t>
            </a:r>
            <a:endParaRPr/>
          </a:p>
        </p:txBody>
      </p:sp>
      <p:pic>
        <p:nvPicPr>
          <p:cNvPr id="303" name="Google Shape;30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472" y="1279831"/>
            <a:ext cx="7046477" cy="53915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83670" y="5435281"/>
            <a:ext cx="2522954" cy="1422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0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fr-FR"/>
              <a:t>Conclusion</a:t>
            </a:r>
            <a:endParaRPr/>
          </a:p>
        </p:txBody>
      </p:sp>
      <p:pic>
        <p:nvPicPr>
          <p:cNvPr descr="Concept De Conclusion Avec La Loupe Illustration Stock - Illustration du  fond, abstrait: 105312416" id="310" name="Google Shape;31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081" y="1350399"/>
            <a:ext cx="8050504" cy="5424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83670" y="5435281"/>
            <a:ext cx="2522954" cy="1422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acette">
  <a:themeElements>
    <a:clrScheme name="Facett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