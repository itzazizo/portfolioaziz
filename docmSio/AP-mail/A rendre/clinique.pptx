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83" r:id="rId7"/>
    <p:sldId id="284" r:id="rId8"/>
    <p:sldId id="262" r:id="rId9"/>
    <p:sldId id="274" r:id="rId10"/>
    <p:sldId id="263" r:id="rId11"/>
    <p:sldId id="272" r:id="rId12"/>
    <p:sldId id="273" r:id="rId13"/>
    <p:sldId id="264" r:id="rId14"/>
    <p:sldId id="280" r:id="rId15"/>
    <p:sldId id="278" r:id="rId16"/>
    <p:sldId id="265" r:id="rId17"/>
    <p:sldId id="267" r:id="rId18"/>
    <p:sldId id="266" r:id="rId19"/>
    <p:sldId id="269" r:id="rId20"/>
    <p:sldId id="271" r:id="rId21"/>
    <p:sldId id="270" r:id="rId22"/>
    <p:sldId id="276" r:id="rId23"/>
    <p:sldId id="282" r:id="rId24"/>
    <p:sldId id="275" r:id="rId25"/>
    <p:sldId id="279" r:id="rId26"/>
    <p:sldId id="281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783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3A2E7-6DC0-4DF8-BAE7-CB3225C58075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8D6FC-EB1F-458E-802A-78B5F6072F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50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30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35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19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29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7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096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15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27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205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14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71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038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2310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6988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80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22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1E00B-8B8C-4A99-B835-CB23F3A2DDC4}" type="datetimeFigureOut">
              <a:rPr lang="fr-FR" smtClean="0"/>
              <a:t>31/03/2025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EDBC60-E8E5-482C-A7C7-17A78FC8D4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75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1EF003-9114-AC69-6770-15682BCD8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7018" y="1819373"/>
            <a:ext cx="6612554" cy="1517715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Infrastructure IT pour une clinique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F3B242-7607-3AD9-6B4A-CD21F58C2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479" y="3301711"/>
            <a:ext cx="7766936" cy="1096899"/>
          </a:xfrm>
        </p:spPr>
        <p:txBody>
          <a:bodyPr/>
          <a:lstStyle/>
          <a:p>
            <a:pPr algn="ctr"/>
            <a:r>
              <a:rPr lang="fr-FR" dirty="0"/>
              <a:t>Aziz BENYAMINA &amp; </a:t>
            </a:r>
            <a:r>
              <a:rPr lang="fr-FR" dirty="0" err="1"/>
              <a:t>Ayyoub</a:t>
            </a:r>
            <a:r>
              <a:rPr lang="fr-FR" dirty="0"/>
              <a:t> BELHASSEN &amp; P.LUCAS OBA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DFA365-FDB2-1572-7FC8-157075A5F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51" y="3671838"/>
            <a:ext cx="5168688" cy="29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74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F3E1E-0EDD-B246-D8D0-B5B682AD4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1. </a:t>
            </a:r>
            <a:r>
              <a:rPr lang="fr-FR" dirty="0"/>
              <a:t>Contexte du Projet</a:t>
            </a:r>
            <a:br>
              <a:rPr lang="fr-FR" b="1" dirty="0"/>
            </a:br>
            <a:r>
              <a:rPr lang="fr-FR" dirty="0"/>
              <a:t> </a:t>
            </a:r>
          </a:p>
        </p:txBody>
      </p:sp>
      <p:pic>
        <p:nvPicPr>
          <p:cNvPr id="1026" name="Picture 2" descr="Nos projets | Ministère des Armées">
            <a:extLst>
              <a:ext uri="{FF2B5EF4-FFF2-40B4-BE49-F238E27FC236}">
                <a16:creationId xmlns:a16="http://schemas.microsoft.com/office/drawing/2014/main" id="{1F301AF5-931D-417C-223E-0B439CE8D2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25" y="1368323"/>
            <a:ext cx="6990299" cy="499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B3357F1-9774-A282-A04B-F5EDF694F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207" y="5377691"/>
            <a:ext cx="2574398" cy="145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5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A36D5-C357-F496-72A5-25EE2723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2. Infrastructure Réseau</a:t>
            </a:r>
            <a:br>
              <a:rPr lang="fr-FR" b="1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B7C8D3-D0A4-CA48-D775-925ECD303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6EC212D-0476-4945-C216-20087B34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64" y="1270000"/>
            <a:ext cx="9193008" cy="39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23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21821-CA73-4A57-3B8C-206EB91F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le projet s’intègre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15C92B-EA9F-2475-A502-08C55C657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3381"/>
            <a:ext cx="9040282" cy="4071237"/>
          </a:xfrm>
        </p:spPr>
        <p:txBody>
          <a:bodyPr/>
          <a:lstStyle/>
          <a:p>
            <a:r>
              <a:rPr lang="fr-FR" b="1" dirty="0"/>
              <a:t>Serveur de Messagerie (Debian 12.10)</a:t>
            </a:r>
          </a:p>
          <a:p>
            <a:r>
              <a:rPr lang="fr-FR" b="1" dirty="0"/>
              <a:t>Serveur AD (Windows 2019)</a:t>
            </a:r>
          </a:p>
          <a:p>
            <a:r>
              <a:rPr lang="fr-FR" b="1" dirty="0"/>
              <a:t>Serveur Web (Debian 12.10)</a:t>
            </a:r>
          </a:p>
          <a:p>
            <a:r>
              <a:rPr lang="fr-FR" b="1" dirty="0"/>
              <a:t>Serveur GLPI (Debian 12.10)</a:t>
            </a:r>
          </a:p>
          <a:p>
            <a:r>
              <a:rPr lang="fr-FR" b="1" dirty="0" err="1"/>
              <a:t>Pfsense</a:t>
            </a:r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F92FD17-5C88-CE89-0CB8-1A52E0F30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504A0-C276-808B-9406-84899B09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Serveur de Messagerie Debian 12.10</a:t>
            </a:r>
          </a:p>
        </p:txBody>
      </p:sp>
      <p:pic>
        <p:nvPicPr>
          <p:cNvPr id="2050" name="Picture 2" descr="Debian - Icônes Médias sociaux et logos">
            <a:extLst>
              <a:ext uri="{FF2B5EF4-FFF2-40B4-BE49-F238E27FC236}">
                <a16:creationId xmlns:a16="http://schemas.microsoft.com/office/drawing/2014/main" id="{13D348E3-DFAD-E407-11F9-DA3D815D8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722" y="583281"/>
            <a:ext cx="1142739" cy="114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figuration Postfix pour utiliser le Smtp d'Orange - Le savoir n'est  utile que s'il est partagé ...">
            <a:extLst>
              <a:ext uri="{FF2B5EF4-FFF2-40B4-BE49-F238E27FC236}">
                <a16:creationId xmlns:a16="http://schemas.microsoft.com/office/drawing/2014/main" id="{5432D723-FE8D-8D83-7965-8CD578164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2" y="1926299"/>
            <a:ext cx="2741990" cy="174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ovecot (software) - Wikipedia">
            <a:extLst>
              <a:ext uri="{FF2B5EF4-FFF2-40B4-BE49-F238E27FC236}">
                <a16:creationId xmlns:a16="http://schemas.microsoft.com/office/drawing/2014/main" id="{36AF7644-1A6F-0E28-2097-0DF5313F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268" y="2171207"/>
            <a:ext cx="2376077" cy="98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ow to Open &amp; view Maildir files with/without Thunderbird | Mailbox Reader">
            <a:extLst>
              <a:ext uri="{FF2B5EF4-FFF2-40B4-BE49-F238E27FC236}">
                <a16:creationId xmlns:a16="http://schemas.microsoft.com/office/drawing/2014/main" id="{36D7F589-F337-6993-B4DB-0C32EA90E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026" y="1908687"/>
            <a:ext cx="2956598" cy="1755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D4A50F5-309C-8AC0-12C1-9ED8DF770AD7}"/>
              </a:ext>
            </a:extLst>
          </p:cNvPr>
          <p:cNvSpPr txBox="1"/>
          <p:nvPr/>
        </p:nvSpPr>
        <p:spPr>
          <a:xfrm>
            <a:off x="1155678" y="3771694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(SMTP)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B051E4-40DE-92D9-F3DA-172720C3CE1B}"/>
              </a:ext>
            </a:extLst>
          </p:cNvPr>
          <p:cNvSpPr txBox="1"/>
          <p:nvPr/>
        </p:nvSpPr>
        <p:spPr>
          <a:xfrm>
            <a:off x="2981774" y="3788549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(IMAP/POP3)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47A2CB-345D-5FB9-34C3-44DED26E60E5}"/>
              </a:ext>
            </a:extLst>
          </p:cNvPr>
          <p:cNvSpPr txBox="1"/>
          <p:nvPr/>
        </p:nvSpPr>
        <p:spPr>
          <a:xfrm>
            <a:off x="5857725" y="3805404"/>
            <a:ext cx="3369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Maildir</a:t>
            </a:r>
            <a:r>
              <a:rPr lang="fr-FR" dirty="0"/>
              <a:t> stockage </a:t>
            </a:r>
          </a:p>
        </p:txBody>
      </p:sp>
      <p:pic>
        <p:nvPicPr>
          <p:cNvPr id="10" name="Picture 2" descr="Thunderbird: Free Your Inbox – Applications sur Google Play">
            <a:extLst>
              <a:ext uri="{FF2B5EF4-FFF2-40B4-BE49-F238E27FC236}">
                <a16:creationId xmlns:a16="http://schemas.microsoft.com/office/drawing/2014/main" id="{D8B66AEC-570F-579B-F5BF-1EF1E8D3D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54305" y="1882501"/>
            <a:ext cx="1601583" cy="178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7B75D97-8F79-FA8F-811F-43690BD548E7}"/>
              </a:ext>
            </a:extLst>
          </p:cNvPr>
          <p:cNvSpPr txBox="1"/>
          <p:nvPr/>
        </p:nvSpPr>
        <p:spPr>
          <a:xfrm>
            <a:off x="8342722" y="3779085"/>
            <a:ext cx="6103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Google Sans"/>
              </a:rPr>
              <a:t>Thunderbird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DA0B7B5-31C6-7D03-BA64-EF5F99E1BC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32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343C9-ED62-2BD5-CD11-EB777A64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Serveur bien reconnu par </a:t>
            </a:r>
            <a:br>
              <a:rPr lang="fr-FR" dirty="0"/>
            </a:br>
            <a:r>
              <a:rPr lang="fr-FR" dirty="0"/>
              <a:t>Thunderbird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745FBA-E655-FE6E-2D9F-96D8F43D7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357" y="2166687"/>
            <a:ext cx="5297934" cy="408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8AD9D0-259A-6AA0-F15D-7A199AFA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154" y="481781"/>
            <a:ext cx="8596668" cy="1320800"/>
          </a:xfrm>
        </p:spPr>
        <p:txBody>
          <a:bodyPr/>
          <a:lstStyle/>
          <a:p>
            <a:r>
              <a:rPr lang="fr-FR" dirty="0"/>
              <a:t>Création de Boîte mail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74FFB9C-4D7A-31F1-0D4C-BF952AD87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50" y="1428284"/>
            <a:ext cx="6828940" cy="478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3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7C42B-79C2-3678-ADBB-EE2F4440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02" y="399734"/>
            <a:ext cx="6461825" cy="1056451"/>
          </a:xfrm>
        </p:spPr>
        <p:txBody>
          <a:bodyPr/>
          <a:lstStyle/>
          <a:p>
            <a:r>
              <a:rPr lang="fr-FR" dirty="0"/>
              <a:t>Interface Graphique </a:t>
            </a:r>
          </a:p>
        </p:txBody>
      </p:sp>
      <p:pic>
        <p:nvPicPr>
          <p:cNvPr id="3074" name="Picture 2" descr="Thunderbird: Free Your Inbox – Applications sur Google Play">
            <a:extLst>
              <a:ext uri="{FF2B5EF4-FFF2-40B4-BE49-F238E27FC236}">
                <a16:creationId xmlns:a16="http://schemas.microsoft.com/office/drawing/2014/main" id="{ECEBB3C2-AED8-A385-B5FD-D2743254A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2421" y="-112967"/>
            <a:ext cx="1410549" cy="156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C4A8ACB-256D-0EBF-37FD-29A648A3A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4EAEF8D-C709-3B3B-5C2D-1FED6FB11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33" y="1630524"/>
            <a:ext cx="9009771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36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lipse 10">
            <a:extLst>
              <a:ext uri="{FF2B5EF4-FFF2-40B4-BE49-F238E27FC236}">
                <a16:creationId xmlns:a16="http://schemas.microsoft.com/office/drawing/2014/main" id="{AFEF5526-4E42-CCAC-3BC8-DEA779737B5F}"/>
              </a:ext>
            </a:extLst>
          </p:cNvPr>
          <p:cNvSpPr/>
          <p:nvPr/>
        </p:nvSpPr>
        <p:spPr>
          <a:xfrm>
            <a:off x="7944985" y="4454035"/>
            <a:ext cx="2208634" cy="84553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Mail reçu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91F69CA-9013-D57D-A25A-E4CDE4E9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66" y="445663"/>
            <a:ext cx="8596668" cy="1320800"/>
          </a:xfrm>
        </p:spPr>
        <p:txBody>
          <a:bodyPr/>
          <a:lstStyle/>
          <a:p>
            <a:r>
              <a:rPr lang="fr-FR" dirty="0"/>
              <a:t>Test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FFC8531-78FB-64F9-E3F3-7BCA1E423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46" y="954004"/>
            <a:ext cx="6190254" cy="215665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31D239A-8EBA-60DE-D89A-50EE72FB4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17" y="3695555"/>
            <a:ext cx="7483488" cy="2072820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854E251A-076B-F9D0-166E-31D70924D1D3}"/>
              </a:ext>
            </a:extLst>
          </p:cNvPr>
          <p:cNvSpPr/>
          <p:nvPr/>
        </p:nvSpPr>
        <p:spPr>
          <a:xfrm>
            <a:off x="7057700" y="2252263"/>
            <a:ext cx="3108855" cy="100572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EA99BEF-07A1-474F-8055-3692D9A2DC2D}"/>
              </a:ext>
            </a:extLst>
          </p:cNvPr>
          <p:cNvCxnSpPr>
            <a:cxnSpLocks/>
          </p:cNvCxnSpPr>
          <p:nvPr/>
        </p:nvCxnSpPr>
        <p:spPr>
          <a:xfrm flipH="1" flipV="1">
            <a:off x="5345028" y="2124149"/>
            <a:ext cx="1842057" cy="45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3A9CD667-359B-3D6B-B052-35EA370F15D1}"/>
              </a:ext>
            </a:extLst>
          </p:cNvPr>
          <p:cNvSpPr txBox="1"/>
          <p:nvPr/>
        </p:nvSpPr>
        <p:spPr>
          <a:xfrm>
            <a:off x="7728155" y="2424659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Envoyer Un mail </a:t>
            </a:r>
          </a:p>
          <a:p>
            <a:r>
              <a:rPr lang="fr-FR" dirty="0" err="1">
                <a:solidFill>
                  <a:schemeClr val="bg1"/>
                </a:solidFill>
              </a:rPr>
              <a:t>aziz@clinique.local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51E5335-CDB2-5846-BFB2-D3BB1E3F7B1B}"/>
              </a:ext>
            </a:extLst>
          </p:cNvPr>
          <p:cNvCxnSpPr/>
          <p:nvPr/>
        </p:nvCxnSpPr>
        <p:spPr>
          <a:xfrm flipH="1" flipV="1">
            <a:off x="4503174" y="4587131"/>
            <a:ext cx="3785420" cy="289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CB9BAAC4-B4B2-DF07-DEFD-7A1EF28E53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5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105394-7575-CB30-05DC-52981647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Serveur AD</a:t>
            </a:r>
            <a:endParaRPr lang="fr-FR" dirty="0"/>
          </a:p>
        </p:txBody>
      </p:sp>
      <p:pic>
        <p:nvPicPr>
          <p:cNvPr id="1026" name="Picture 2" descr="Windows Server 2019 Hotfixes | PKI Solutions">
            <a:extLst>
              <a:ext uri="{FF2B5EF4-FFF2-40B4-BE49-F238E27FC236}">
                <a16:creationId xmlns:a16="http://schemas.microsoft.com/office/drawing/2014/main" id="{F9CA5014-0B29-37D2-DF14-89CA7662F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175906"/>
            <a:ext cx="3351716" cy="180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ns - Icônes ordinateur gratuites">
            <a:extLst>
              <a:ext uri="{FF2B5EF4-FFF2-40B4-BE49-F238E27FC236}">
                <a16:creationId xmlns:a16="http://schemas.microsoft.com/office/drawing/2014/main" id="{D0E3C667-2268-2D63-C9C6-0EF41E6F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746" y="2391542"/>
            <a:ext cx="1720645" cy="172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lved: Microsoft Server 2019 losing DHCP randomly | Experts Exchange">
            <a:extLst>
              <a:ext uri="{FF2B5EF4-FFF2-40B4-BE49-F238E27FC236}">
                <a16:creationId xmlns:a16="http://schemas.microsoft.com/office/drawing/2014/main" id="{54B9017C-3886-C8C8-11F4-4977F246C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89" y="2448769"/>
            <a:ext cx="1960461" cy="196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earch Active Directory Without ADUC - YuenX">
            <a:extLst>
              <a:ext uri="{FF2B5EF4-FFF2-40B4-BE49-F238E27FC236}">
                <a16:creationId xmlns:a16="http://schemas.microsoft.com/office/drawing/2014/main" id="{A21CFE6C-49B5-93F1-21D0-1C1639750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957" y="2697726"/>
            <a:ext cx="2722374" cy="180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FBB2DD4-72E0-A831-F687-9F2E10581C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28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ACF6C7C2-374D-D9DF-7B8F-78D294A7E653}"/>
              </a:ext>
            </a:extLst>
          </p:cNvPr>
          <p:cNvSpPr/>
          <p:nvPr/>
        </p:nvSpPr>
        <p:spPr>
          <a:xfrm>
            <a:off x="5701334" y="3871618"/>
            <a:ext cx="4060723" cy="10815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52A884-FFC2-DCB5-CCF1-D5FDAD17C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1858DE3-39F0-3A7C-CBC3-AF15E3AC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48" y="1573981"/>
            <a:ext cx="7511627" cy="1756863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62546229-E194-5768-4C9D-EBD1EA5A47A4}"/>
              </a:ext>
            </a:extLst>
          </p:cNvPr>
          <p:cNvCxnSpPr/>
          <p:nvPr/>
        </p:nvCxnSpPr>
        <p:spPr>
          <a:xfrm flipH="1" flipV="1">
            <a:off x="4064503" y="2738940"/>
            <a:ext cx="2428568" cy="1081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9F1CAB92-A658-D9A7-8562-9A274DEA23E1}"/>
              </a:ext>
            </a:extLst>
          </p:cNvPr>
          <p:cNvSpPr txBox="1"/>
          <p:nvPr/>
        </p:nvSpPr>
        <p:spPr>
          <a:xfrm>
            <a:off x="5933768" y="4202161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Définir le serveur de messagerie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E7A773B-1084-3391-C870-C9CF59355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3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30556849-F1E9-4A9D-5FF9-41E3E69E1B18}"/>
              </a:ext>
            </a:extLst>
          </p:cNvPr>
          <p:cNvSpPr/>
          <p:nvPr/>
        </p:nvSpPr>
        <p:spPr>
          <a:xfrm>
            <a:off x="4616245" y="5138740"/>
            <a:ext cx="3746089" cy="8055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Plage IP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1757ED-B1EF-AE57-24CB-E27AF870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DHCP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5A9B96A-4FCB-E26C-F914-7F14FAA2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859371"/>
            <a:ext cx="7560450" cy="253334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1CDC34D-D6E7-42D0-5518-6BC95C341B2C}"/>
              </a:ext>
            </a:extLst>
          </p:cNvPr>
          <p:cNvCxnSpPr>
            <a:cxnSpLocks/>
          </p:cNvCxnSpPr>
          <p:nvPr/>
        </p:nvCxnSpPr>
        <p:spPr>
          <a:xfrm flipH="1" flipV="1">
            <a:off x="4070555" y="3459726"/>
            <a:ext cx="1533832" cy="157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id="{D1B6B883-E2A9-FDB6-30B5-C8D730DB4739}"/>
              </a:ext>
            </a:extLst>
          </p:cNvPr>
          <p:cNvSpPr/>
          <p:nvPr/>
        </p:nvSpPr>
        <p:spPr>
          <a:xfrm>
            <a:off x="2109019" y="2792360"/>
            <a:ext cx="3923071" cy="924233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90F15D3-6E87-0F18-88A7-855EFB0CE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03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E152117-F568-587B-4800-3C466A58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Serveur Web (Debian 12.10)</a:t>
            </a:r>
            <a:br>
              <a:rPr lang="fr-FR" b="1" dirty="0"/>
            </a:br>
            <a:endParaRPr lang="fr-FR" dirty="0"/>
          </a:p>
        </p:txBody>
      </p:sp>
      <p:pic>
        <p:nvPicPr>
          <p:cNvPr id="5" name="Picture 2" descr="Debian - Icônes Médias sociaux et logos">
            <a:extLst>
              <a:ext uri="{FF2B5EF4-FFF2-40B4-BE49-F238E27FC236}">
                <a16:creationId xmlns:a16="http://schemas.microsoft.com/office/drawing/2014/main" id="{F5D916B7-C370-BE70-B8B2-73206E3AA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019" y="374997"/>
            <a:ext cx="1142739" cy="114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pache Logo - Brian Cline">
            <a:extLst>
              <a:ext uri="{FF2B5EF4-FFF2-40B4-BE49-F238E27FC236}">
                <a16:creationId xmlns:a16="http://schemas.microsoft.com/office/drawing/2014/main" id="{A50C01A2-588B-E96A-5C96-7AB81C3D7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" y="2703193"/>
            <a:ext cx="4202359" cy="183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hp logo, Vector Logo of Php brand free download (eps, ai, png, cdr) formats">
            <a:extLst>
              <a:ext uri="{FF2B5EF4-FFF2-40B4-BE49-F238E27FC236}">
                <a16:creationId xmlns:a16="http://schemas.microsoft.com/office/drawing/2014/main" id="{58D01C55-106C-5C4F-84F6-8355F2C58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371" y="2247811"/>
            <a:ext cx="2293914" cy="229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67A3368-2D4B-1DB6-A4D5-F2189F7F5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427" y="2475502"/>
            <a:ext cx="3309358" cy="183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D101855-9AEA-7A5A-A059-E2CEB0A64F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89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1FA22-F0CC-013F-C86C-3CD11651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Page de connexion 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CCEA247-99BF-F60D-E71A-5B792CA18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05" y="1509660"/>
            <a:ext cx="9196525" cy="413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697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305D44F-03EB-B881-C7CF-1E9E93B4D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2" y="1377897"/>
            <a:ext cx="9533889" cy="430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B359801-108D-B604-2A84-4CF0CE52D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Site WEB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A054A4A-AB68-1B4B-77AB-08C90F396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F6C17-46D2-757D-0C03-BFBB051A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Serveur GLPI (Debian 12.10)</a:t>
            </a:r>
            <a:endParaRPr lang="fr-FR" dirty="0"/>
          </a:p>
        </p:txBody>
      </p:sp>
      <p:pic>
        <p:nvPicPr>
          <p:cNvPr id="3074" name="Picture 2" descr="Création d'un serveur GLPI – NicolasWailly">
            <a:extLst>
              <a:ext uri="{FF2B5EF4-FFF2-40B4-BE49-F238E27FC236}">
                <a16:creationId xmlns:a16="http://schemas.microsoft.com/office/drawing/2014/main" id="{B3651C40-FAD9-09E9-07A6-CF29EF05E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347" y="467108"/>
            <a:ext cx="2207655" cy="121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staller glpi 10">
            <a:extLst>
              <a:ext uri="{FF2B5EF4-FFF2-40B4-BE49-F238E27FC236}">
                <a16:creationId xmlns:a16="http://schemas.microsoft.com/office/drawing/2014/main" id="{5B4A5465-05D1-038B-B37E-037DB51CC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44" y="1832153"/>
            <a:ext cx="8222248" cy="441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47F261C-B2D3-A13F-3BE8-A551DEA24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7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83930-C6FF-E796-7E0D-FFAD938D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GLPI </a:t>
            </a:r>
          </a:p>
        </p:txBody>
      </p:sp>
      <p:pic>
        <p:nvPicPr>
          <p:cNvPr id="5122" name="Picture 2" descr="GLPI Agent documentation — GLPI Agent 1.10 documentation">
            <a:extLst>
              <a:ext uri="{FF2B5EF4-FFF2-40B4-BE49-F238E27FC236}">
                <a16:creationId xmlns:a16="http://schemas.microsoft.com/office/drawing/2014/main" id="{DA13A9A6-4510-298F-0778-A224C4D00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211" y="294967"/>
            <a:ext cx="1219201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CFA73CE-5BB5-26C2-BDB7-B2B492184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  <p:pic>
        <p:nvPicPr>
          <p:cNvPr id="5124" name="Picture 4" descr="GLPI 10 - Parc - Ordinateurs - Inventaire automatique">
            <a:extLst>
              <a:ext uri="{FF2B5EF4-FFF2-40B4-BE49-F238E27FC236}">
                <a16:creationId xmlns:a16="http://schemas.microsoft.com/office/drawing/2014/main" id="{E4080299-2CE5-B6E0-6DA7-9BD054ADB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47" y="2095591"/>
            <a:ext cx="9154923" cy="333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85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CA0B09-6D49-5716-7F72-5B13FFB2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Pfsense</a:t>
            </a:r>
            <a:endParaRPr lang="fr-FR" dirty="0"/>
          </a:p>
        </p:txBody>
      </p:sp>
      <p:pic>
        <p:nvPicPr>
          <p:cNvPr id="4098" name="Picture 2" descr="Adeo-informatique, distributeur officiel pfSense à Perpignan">
            <a:extLst>
              <a:ext uri="{FF2B5EF4-FFF2-40B4-BE49-F238E27FC236}">
                <a16:creationId xmlns:a16="http://schemas.microsoft.com/office/drawing/2014/main" id="{066A1530-3575-1D7D-9FDD-7EDD6A16C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98" y="327436"/>
            <a:ext cx="1987612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3945DBA-FD7E-8F15-CE9E-B477BDD97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0C923C6-67DC-3F8E-3361-82135E96C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77" y="1721965"/>
            <a:ext cx="8425465" cy="371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32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DEC42C-01E9-5C21-14FB-93F52508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C602DF-DE06-475A-2C7C-1CF6AD99710B}"/>
              </a:ext>
            </a:extLst>
          </p:cNvPr>
          <p:cNvSpPr txBox="1"/>
          <p:nvPr/>
        </p:nvSpPr>
        <p:spPr>
          <a:xfrm>
            <a:off x="765824" y="137640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- Problèmes d'authentification : </a:t>
            </a:r>
            <a:r>
              <a:rPr lang="fr-FR" dirty="0" err="1"/>
              <a:t>ajustementsAD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BB572F3-770E-405A-0AAC-7A62D7A82C4E}"/>
              </a:ext>
            </a:extLst>
          </p:cNvPr>
          <p:cNvSpPr txBox="1"/>
          <p:nvPr/>
        </p:nvSpPr>
        <p:spPr>
          <a:xfrm>
            <a:off x="765824" y="1838067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- </a:t>
            </a:r>
            <a:r>
              <a:rPr lang="fr-FR" dirty="0" err="1"/>
              <a:t>Pfsense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D1CF025-F4ED-09EA-3CE0-81BB02C0521A}"/>
              </a:ext>
            </a:extLst>
          </p:cNvPr>
          <p:cNvSpPr txBox="1"/>
          <p:nvPr/>
        </p:nvSpPr>
        <p:spPr>
          <a:xfrm>
            <a:off x="765824" y="229973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- Organisation du travail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656C5FB-52F1-374B-83DF-05158B0EF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97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F4396E-3125-A694-1056-0192C53EE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50" y="570271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fr-FR" dirty="0"/>
              <a:t> Problèmes d'authentification : ajustements AD</a:t>
            </a:r>
            <a:br>
              <a:rPr lang="fr-FR" dirty="0"/>
            </a:b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A910C7B-0C50-71F0-0A71-446241B03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011" y="1431498"/>
            <a:ext cx="8045249" cy="462025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7573FAB-4734-6A9A-2CD7-DCD9AFD08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707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308702-6BF3-E6D0-F028-BED20A05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08" y="760362"/>
            <a:ext cx="8596668" cy="1320800"/>
          </a:xfrm>
        </p:spPr>
        <p:txBody>
          <a:bodyPr/>
          <a:lstStyle/>
          <a:p>
            <a:r>
              <a:rPr lang="fr-FR" dirty="0" err="1"/>
              <a:t>Pfsense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06BF79D-A331-B377-F89C-A137FE69A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08" y="1645264"/>
            <a:ext cx="8425465" cy="371331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344DBF3-ACB0-B022-0D34-C95008C7B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7BB5BF9-6C8A-1CFB-FED3-F4C6BDBF4A9D}"/>
              </a:ext>
            </a:extLst>
          </p:cNvPr>
          <p:cNvSpPr txBox="1"/>
          <p:nvPr/>
        </p:nvSpPr>
        <p:spPr>
          <a:xfrm>
            <a:off x="2335351" y="952599"/>
            <a:ext cx="640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: Problème de communication avec le lycée.</a:t>
            </a:r>
          </a:p>
        </p:txBody>
      </p:sp>
    </p:spTree>
    <p:extLst>
      <p:ext uri="{BB962C8B-B14F-4D97-AF65-F5344CB8AC3E}">
        <p14:creationId xmlns:p14="http://schemas.microsoft.com/office/powerpoint/2010/main" val="2427666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619B9D-14BE-48C5-FB01-866532A8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Organisation du travail 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E82CF5D-C942-DE26-9FD8-4EC238F1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14" y="1674760"/>
            <a:ext cx="8659539" cy="380180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A8A11B6-6B6E-4AAE-A7E7-22AD7D6A5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77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72242-9078-285B-921A-AFD7627D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Sécurité</a:t>
            </a:r>
            <a:br>
              <a:rPr lang="fr-FR" b="1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41BC3D7-A1C6-519A-95E9-A94CC7C2C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02" y="1474882"/>
            <a:ext cx="7697430" cy="467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10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05AC3-E4CE-16B2-4CBA-901F373A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 Acquises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D6D1BF2-E7BD-4060-B9DA-1DA34F989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  <p:pic>
        <p:nvPicPr>
          <p:cNvPr id="7170" name="Picture 2" descr="A loué, on va vers du 100 % compétences sur tous les niveaux!! – Blog  enseignant des maths">
            <a:extLst>
              <a:ext uri="{FF2B5EF4-FFF2-40B4-BE49-F238E27FC236}">
                <a16:creationId xmlns:a16="http://schemas.microsoft.com/office/drawing/2014/main" id="{2372885B-1970-AAD1-69E5-8DAFA1DB2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740" y="1376389"/>
            <a:ext cx="6682555" cy="487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052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56DDD-41F4-BDD3-293C-696108EC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Récupérer un projet d'un autre groupe</a:t>
            </a:r>
          </a:p>
        </p:txBody>
      </p:sp>
      <p:pic>
        <p:nvPicPr>
          <p:cNvPr id="9220" name="Picture 4" descr="Top 10 des meilleurs logiciels de gestion de projet (2025)">
            <a:extLst>
              <a:ext uri="{FF2B5EF4-FFF2-40B4-BE49-F238E27FC236}">
                <a16:creationId xmlns:a16="http://schemas.microsoft.com/office/drawing/2014/main" id="{673B9E64-7C5C-D2F7-8531-53E3D416D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92" y="1201174"/>
            <a:ext cx="8142202" cy="527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170EAE7-E9C1-4F73-D273-89380329A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55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0C5A6-74A9-C0E4-C3AF-09D6403E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des tickets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B21949-89DB-57F0-6615-34069864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72" y="1279831"/>
            <a:ext cx="7046477" cy="539156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77FECC-F91D-52BD-29D6-E1C588305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18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AF6FF-B3D3-8E18-566D-EE83FA2F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Conclusion</a:t>
            </a:r>
          </a:p>
        </p:txBody>
      </p:sp>
      <p:pic>
        <p:nvPicPr>
          <p:cNvPr id="6150" name="Picture 6" descr="Concept De Conclusion Avec La Loupe Illustration Stock - Illustration du  fond, abstrait: 105312416">
            <a:extLst>
              <a:ext uri="{FF2B5EF4-FFF2-40B4-BE49-F238E27FC236}">
                <a16:creationId xmlns:a16="http://schemas.microsoft.com/office/drawing/2014/main" id="{416D9293-E1AB-B500-7001-89C040957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81" y="1350399"/>
            <a:ext cx="8050504" cy="5424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6C1594B-CD80-17A9-EC0E-019CEF521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670" y="5435281"/>
            <a:ext cx="2522954" cy="14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438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287</TotalTime>
  <Words>175</Words>
  <Application>Microsoft Office PowerPoint</Application>
  <PresentationFormat>Grand écran</PresentationFormat>
  <Paragraphs>47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3" baseType="lpstr">
      <vt:lpstr>Arial</vt:lpstr>
      <vt:lpstr>Calibri</vt:lpstr>
      <vt:lpstr>Google Sans</vt:lpstr>
      <vt:lpstr>Trebuchet MS</vt:lpstr>
      <vt:lpstr>Wingdings 3</vt:lpstr>
      <vt:lpstr>Facette</vt:lpstr>
      <vt:lpstr>Infrastructure IT pour une clinique</vt:lpstr>
      <vt:lpstr>1. Contexte du Projet  </vt:lpstr>
      <vt:lpstr>2. Infrastructure Réseau </vt:lpstr>
      <vt:lpstr>Comment le projet s’intègre ?</vt:lpstr>
      <vt:lpstr>Serveur de Messagerie Debian 12.10</vt:lpstr>
      <vt:lpstr>Serveur bien reconnu par  Thunderbird</vt:lpstr>
      <vt:lpstr>Création de Boîte mail</vt:lpstr>
      <vt:lpstr>Interface Graphique </vt:lpstr>
      <vt:lpstr>Test</vt:lpstr>
      <vt:lpstr>Serveur AD</vt:lpstr>
      <vt:lpstr>DNS</vt:lpstr>
      <vt:lpstr>DHCP</vt:lpstr>
      <vt:lpstr>Serveur Web (Debian 12.10) </vt:lpstr>
      <vt:lpstr>Page de connexion </vt:lpstr>
      <vt:lpstr>Site WEB</vt:lpstr>
      <vt:lpstr>Serveur GLPI (Debian 12.10)</vt:lpstr>
      <vt:lpstr>Agent GLPI </vt:lpstr>
      <vt:lpstr>Pfsense</vt:lpstr>
      <vt:lpstr>Difficultés</vt:lpstr>
      <vt:lpstr> Problèmes d'authentification : ajustements AD </vt:lpstr>
      <vt:lpstr>Pfsense </vt:lpstr>
      <vt:lpstr>Organisation du travail  </vt:lpstr>
      <vt:lpstr>Sécurité </vt:lpstr>
      <vt:lpstr>Compétences Acquises</vt:lpstr>
      <vt:lpstr>Récupérer un projet d'un autre groupe</vt:lpstr>
      <vt:lpstr>Création des tickets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bachir benyamina</dc:creator>
  <cp:lastModifiedBy>bachir benyamina</cp:lastModifiedBy>
  <cp:revision>3</cp:revision>
  <dcterms:created xsi:type="dcterms:W3CDTF">2025-03-30T21:21:41Z</dcterms:created>
  <dcterms:modified xsi:type="dcterms:W3CDTF">2025-03-31T22:13:42Z</dcterms:modified>
</cp:coreProperties>
</file>